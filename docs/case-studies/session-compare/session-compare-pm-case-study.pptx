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theme" Target="theme/theme1.xml"/><Relationship Id="rId11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pill"/>
          <p:cNvSpPr txBox="1"/>
          <p:nvPr/>
        </p:nvSpPr>
        <p:spPr>
          <a:xfrm>
            <a:off x="609600" y="514350"/>
            <a:ext cx="1562100" cy="285750"/>
          </a:xfrm>
          <a:prstGeom prst="round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</p:spPr>
        <p:txBody>
          <a:bodyPr wrap="square">
            <a:spAutoFit/>
          </a:bodyPr>
          <a:lstStyle/>
          <a:p>
            <a:pPr algn="c"/>
            <a:r>
              <a:rPr lang="en-US" sz="1200" b="1">
                <a:solidFill>
                  <a:srgbClr val="22D3EE"/>
                </a:solidFill>
                <a:latin typeface="Aptos"/>
              </a:rPr>
              <a:t>CONCEPT EXTENSION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09600" y="1295400"/>
            <a:ext cx="6477000" cy="12001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5000" b="1">
                <a:solidFill>
                  <a:srgbClr val="F4F4F5"/>
                </a:solidFill>
                <a:latin typeface="Aptos"/>
              </a:rPr>
              <a:t>Session Compare</a:t>
            </a:r>
          </a:p>
          <a:p>
            <a:pPr algn="l"/>
            <a:r>
              <a:rPr lang="en-US" sz="5000" b="1">
                <a:solidFill>
                  <a:srgbClr val="F4F4F5"/>
                </a:solidFill>
                <a:latin typeface="Aptos"/>
              </a:rPr>
              <a:t>for Track Tuner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47700" y="2762250"/>
            <a:ext cx="4953000" cy="666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200">
                <a:solidFill>
                  <a:srgbClr val="A1A1AA"/>
                </a:solidFill>
                <a:latin typeface="Aptos"/>
              </a:rPr>
              <a:t>Planning the next step from setup logging to trackside decision support.</a:t>
            </a:r>
          </a:p>
        </p:txBody>
      </p:sp>
      <p:sp>
        <p:nvSpPr>
          <p:cNvPr id="5" name="rect"/>
          <p:cNvSpPr/>
          <p:nvPr/>
        </p:nvSpPr>
        <p:spPr>
          <a:xfrm>
            <a:off x="7524750" y="876300"/>
            <a:ext cx="3143250" cy="47244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7886700" y="125730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800" b="1">
                <a:solidFill>
                  <a:srgbClr val="22D3EE"/>
                </a:solidFill>
                <a:latin typeface="Aptos"/>
              </a:rPr>
              <a:t>Comparison signal</a:t>
            </a:r>
          </a:p>
        </p:txBody>
      </p:sp>
      <p:sp>
        <p:nvSpPr>
          <p:cNvPr id="7" name="rect"/>
          <p:cNvSpPr/>
          <p:nvPr/>
        </p:nvSpPr>
        <p:spPr>
          <a:xfrm>
            <a:off x="7886700" y="1790700"/>
            <a:ext cx="2381250" cy="112395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8058150" y="194310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>
                <a:solidFill>
                  <a:srgbClr val="A1A1AA"/>
                </a:solidFill>
                <a:latin typeface="Aptos"/>
              </a:rPr>
              <a:t>BEST LAP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8058150" y="2190750"/>
            <a:ext cx="2000250" cy="4000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000" b="1">
                <a:solidFill>
                  <a:srgbClr val="22D3EE"/>
                </a:solidFill>
                <a:latin typeface="Aptos"/>
              </a:rPr>
              <a:t>-0.8s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8058150" y="260985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>
                <a:solidFill>
                  <a:srgbClr val="A1A1AA"/>
                </a:solidFill>
                <a:latin typeface="Aptos"/>
              </a:rPr>
              <a:t>faster peak pace</a:t>
            </a:r>
          </a:p>
        </p:txBody>
      </p:sp>
      <p:sp>
        <p:nvSpPr>
          <p:cNvPr id="11" name="rect"/>
          <p:cNvSpPr/>
          <p:nvPr/>
        </p:nvSpPr>
        <p:spPr>
          <a:xfrm>
            <a:off x="7886700" y="3086100"/>
            <a:ext cx="2381250" cy="112395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8058150" y="323850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>
                <a:solidFill>
                  <a:srgbClr val="A1A1AA"/>
                </a:solidFill>
                <a:latin typeface="Aptos"/>
              </a:rPr>
              <a:t>CONSISTENCY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8058150" y="3486150"/>
            <a:ext cx="2000250" cy="4000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000" b="1">
                <a:solidFill>
                  <a:srgbClr val="F59E0B"/>
                </a:solidFill>
                <a:latin typeface="Aptos"/>
              </a:rPr>
              <a:t>+0.2s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8058150" y="390525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>
                <a:solidFill>
                  <a:srgbClr val="A1A1AA"/>
                </a:solidFill>
                <a:latin typeface="Aptos"/>
              </a:rPr>
              <a:t>slightly wider spread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7886700" y="4572000"/>
            <a:ext cx="2381250" cy="666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rgbClr val="F4F4F5"/>
                </a:solidFill>
                <a:latin typeface="Aptos"/>
              </a:rPr>
              <a:t>Not proof. Use this to decide what to test next.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609600" y="6362700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000">
                <a:solidFill>
                  <a:srgbClr val="71717A"/>
                </a:solidFill>
                <a:latin typeface="Aptos"/>
              </a:rPr>
              <a:t>Track Tuner Session Compare ·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609600" y="40005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 b="1">
                <a:solidFill>
                  <a:srgbClr val="22D3EE"/>
                </a:solidFill>
                <a:latin typeface="Aptos"/>
              </a:rPr>
              <a:t>PROBLEM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7620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600" b="1">
                <a:solidFill>
                  <a:srgbClr val="F4F4F5"/>
                </a:solidFill>
                <a:latin typeface="Aptos"/>
              </a:rPr>
              <a:t>Drivers log changes but still struggle to know what helped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09600" y="1676400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300">
                <a:solidFill>
                  <a:srgbClr val="F4F4F5"/>
                </a:solidFill>
                <a:latin typeface="Aptos"/>
              </a:rPr>
              <a:t>Lap time matters, but it can mislead when traffic, track temperature, tire state, fuel load, and driver consistency change between sessions.</a:t>
            </a:r>
          </a:p>
        </p:txBody>
      </p:sp>
      <p:sp>
        <p:nvSpPr>
          <p:cNvPr id="6" name="rect"/>
          <p:cNvSpPr/>
          <p:nvPr/>
        </p:nvSpPr>
        <p:spPr>
          <a:xfrm>
            <a:off x="6191250" y="1619250"/>
            <a:ext cx="4381500" cy="11049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6515100" y="188595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700" b="1">
                <a:solidFill>
                  <a:srgbClr val="22D3EE"/>
                </a:solidFill>
                <a:latin typeface="Aptos"/>
              </a:rPr>
              <a:t>Product question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6515100" y="2209800"/>
            <a:ext cx="3619500" cy="3238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200" b="1">
                <a:solidFill>
                  <a:srgbClr val="F4F4F5"/>
                </a:solidFill>
                <a:latin typeface="Aptos"/>
              </a:rPr>
              <a:t>What should the driver do differently next session?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819150" y="3371850"/>
            <a:ext cx="9334500" cy="13335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200">
                <a:solidFill>
                  <a:srgbClr val="F4F4F5"/>
                </a:solidFill>
                <a:latin typeface="Aptos"/>
              </a:rPr>
              <a:t>• Faster best lap does not always mean better setup</a:t>
            </a:r>
          </a:p>
          <a:p>
            <a:pPr algn="l"/>
            <a:r>
              <a:rPr lang="en-US" sz="2200">
                <a:solidFill>
                  <a:srgbClr val="F4F4F5"/>
                </a:solidFill>
                <a:latin typeface="Aptos"/>
              </a:rPr>
              <a:t>• Average pace and consistency matter</a:t>
            </a:r>
          </a:p>
          <a:p>
            <a:pPr algn="l"/>
            <a:r>
              <a:rPr lang="en-US" sz="2200">
                <a:solidFill>
                  <a:srgbClr val="F4F4F5"/>
                </a:solidFill>
                <a:latin typeface="Aptos"/>
              </a:rPr>
              <a:t>• Context needs to be visible before conclusions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609600" y="6362700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000">
                <a:solidFill>
                  <a:srgbClr val="71717A"/>
                </a:solidFill>
                <a:latin typeface="Aptos"/>
              </a:rPr>
              <a:t>Track Tuner Session Compare ·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609600" y="40005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 b="1">
                <a:solidFill>
                  <a:srgbClr val="22D3EE"/>
                </a:solidFill>
                <a:latin typeface="Aptos"/>
              </a:rPr>
              <a:t>USER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7620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600" b="1">
                <a:solidFill>
                  <a:srgbClr val="F4F4F5"/>
                </a:solidFill>
                <a:latin typeface="Aptos"/>
              </a:rPr>
              <a:t>Advanced drivers first, coaches and shops later</a:t>
            </a:r>
          </a:p>
        </p:txBody>
      </p:sp>
      <p:sp>
        <p:nvSpPr>
          <p:cNvPr id="5" name="rect"/>
          <p:cNvSpPr/>
          <p:nvPr/>
        </p:nvSpPr>
        <p:spPr>
          <a:xfrm>
            <a:off x="762000" y="1676400"/>
            <a:ext cx="3048000" cy="2476500"/>
          </a:xfrm>
          <a:prstGeom prst="round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1066800" y="2019300"/>
            <a:ext cx="2476500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b="1">
                <a:solidFill>
                  <a:srgbClr val="22D3EE"/>
                </a:solidFill>
                <a:latin typeface="Aptos"/>
              </a:rPr>
              <a:t>Primary v1 user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66800" y="2609850"/>
            <a:ext cx="2381250" cy="762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300" b="1">
                <a:solidFill>
                  <a:srgbClr val="F4F4F5"/>
                </a:solidFill>
                <a:latin typeface="Aptos"/>
              </a:rPr>
              <a:t>Advanced track-day driver or amateur racer comparing their own sessions.</a:t>
            </a:r>
          </a:p>
        </p:txBody>
      </p:sp>
      <p:sp>
        <p:nvSpPr>
          <p:cNvPr id="8" name="rect"/>
          <p:cNvSpPr/>
          <p:nvPr/>
        </p:nvSpPr>
        <p:spPr>
          <a:xfrm>
            <a:off x="4457700" y="1676400"/>
            <a:ext cx="3048000" cy="24765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4762500" y="2019300"/>
            <a:ext cx="2476500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b="1">
                <a:solidFill>
                  <a:srgbClr val="22D3EE"/>
                </a:solidFill>
                <a:latin typeface="Aptos"/>
              </a:rPr>
              <a:t>Future users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762500" y="2609850"/>
            <a:ext cx="2381250" cy="8191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300">
                <a:solidFill>
                  <a:srgbClr val="F4F4F5"/>
                </a:solidFill>
                <a:latin typeface="Aptos"/>
              </a:rPr>
              <a:t>Coaches and shops reviewing progression across drivers and vehicles.</a:t>
            </a:r>
          </a:p>
        </p:txBody>
      </p:sp>
      <p:sp>
        <p:nvSpPr>
          <p:cNvPr id="11" name="rect"/>
          <p:cNvSpPr/>
          <p:nvPr/>
        </p:nvSpPr>
        <p:spPr>
          <a:xfrm>
            <a:off x="8153400" y="1676400"/>
            <a:ext cx="3048000" cy="24765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8458200" y="2019300"/>
            <a:ext cx="2476500" cy="495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 b="1">
                <a:solidFill>
                  <a:srgbClr val="22D3EE"/>
                </a:solidFill>
                <a:latin typeface="Aptos"/>
              </a:rPr>
              <a:t>Entry path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8458200" y="2609850"/>
            <a:ext cx="2381250" cy="8191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300">
                <a:solidFill>
                  <a:srgbClr val="F4F4F5"/>
                </a:solidFill>
                <a:latin typeface="Aptos"/>
              </a:rPr>
              <a:t>Manual lap times and notes, so value does not require telemetry hardware.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609600" y="6362700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000">
                <a:solidFill>
                  <a:srgbClr val="71717A"/>
                </a:solidFill>
                <a:latin typeface="Aptos"/>
              </a:rPr>
              <a:t>Track Tuner Session Compare ·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609600" y="40005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 b="1">
                <a:solidFill>
                  <a:srgbClr val="22D3EE"/>
                </a:solidFill>
                <a:latin typeface="Aptos"/>
              </a:rPr>
              <a:t>CURRENT STATE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7620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600" b="1">
                <a:solidFill>
                  <a:srgbClr val="F4F4F5"/>
                </a:solidFill>
                <a:latin typeface="Aptos"/>
              </a:rPr>
              <a:t>Current product foundation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742950" y="1638300"/>
            <a:ext cx="4762500" cy="2571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>
                <a:solidFill>
                  <a:srgbClr val="F4F4F5"/>
                </a:solidFill>
                <a:latin typeface="Aptos"/>
              </a:rPr>
              <a:t>• Session setup logging</a:t>
            </a:r>
          </a:p>
          <a:p>
            <a:pPr algn="l"/>
            <a:r>
              <a:rPr lang="en-US" sz="2100">
                <a:solidFill>
                  <a:srgbClr val="F4F4F5"/>
                </a:solidFill>
                <a:latin typeface="Aptos"/>
              </a:rPr>
              <a:t>• Previous-session setup diff</a:t>
            </a:r>
          </a:p>
          <a:p>
            <a:pPr algn="l"/>
            <a:r>
              <a:rPr lang="en-US" sz="2100">
                <a:solidFill>
                  <a:srgbClr val="F4F4F5"/>
                </a:solidFill>
                <a:latin typeface="Aptos"/>
              </a:rPr>
              <a:t>• Pro analytics summaries</a:t>
            </a:r>
          </a:p>
          <a:p>
            <a:pPr algn="l"/>
            <a:r>
              <a:rPr lang="en-US" sz="2100">
                <a:solidFill>
                  <a:srgbClr val="F4F4F5"/>
                </a:solidFill>
                <a:latin typeface="Aptos"/>
              </a:rPr>
              <a:t>• CSV export</a:t>
            </a:r>
          </a:p>
          <a:p>
            <a:pPr algn="l"/>
            <a:r>
              <a:rPr lang="en-US" sz="2100">
                <a:solidFill>
                  <a:srgbClr val="F4F4F5"/>
                </a:solidFill>
                <a:latin typeface="Aptos"/>
              </a:rPr>
              <a:t>• AI/RAG setup advice</a:t>
            </a:r>
          </a:p>
          <a:p>
            <a:pPr algn="l"/>
            <a:r>
              <a:rPr lang="en-US" sz="2100">
                <a:solidFill>
                  <a:srgbClr val="F4F4F5"/>
                </a:solidFill>
                <a:latin typeface="Aptos"/>
              </a:rPr>
              <a:t>• Telemetry summary schema for future context</a:t>
            </a:r>
          </a:p>
        </p:txBody>
      </p:sp>
      <p:sp>
        <p:nvSpPr>
          <p:cNvPr id="6" name="rect"/>
          <p:cNvSpPr/>
          <p:nvPr/>
        </p:nvSpPr>
        <p:spPr>
          <a:xfrm>
            <a:off x="6191250" y="1638300"/>
            <a:ext cx="4457700" cy="24003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6553200" y="2038350"/>
            <a:ext cx="3714750" cy="3238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400" b="1">
                <a:solidFill>
                  <a:srgbClr val="22D3EE"/>
                </a:solidFill>
                <a:latin typeface="Aptos"/>
              </a:rPr>
              <a:t>Gap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6553200" y="2590800"/>
            <a:ext cx="3524250" cy="8572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500" b="1">
                <a:solidFill>
                  <a:srgbClr val="F4F4F5"/>
                </a:solidFill>
                <a:latin typeface="Aptos"/>
              </a:rPr>
              <a:t>No full lap-by-lap flow that connects pace, setup, context, and next-session decisions.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742950" y="4781550"/>
            <a:ext cx="9239250" cy="4000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200">
                <a:solidFill>
                  <a:srgbClr val="A1A1AA"/>
                </a:solidFill>
                <a:latin typeface="Aptos"/>
              </a:rPr>
              <a:t>Portfolio angle: evolve a real MVP feature into a clearer PM-led decision workflow.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609600" y="6362700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000">
                <a:solidFill>
                  <a:srgbClr val="71717A"/>
                </a:solidFill>
                <a:latin typeface="Aptos"/>
              </a:rPr>
              <a:t>Track Tuner Session Compare ·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609600" y="40005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 b="1">
                <a:solidFill>
                  <a:srgbClr val="22D3EE"/>
                </a:solidFill>
                <a:latin typeface="Aptos"/>
              </a:rPr>
              <a:t>PRODUCT OPPORTUNITY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7620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600" b="1">
                <a:solidFill>
                  <a:srgbClr val="F4F4F5"/>
                </a:solidFill>
                <a:latin typeface="Aptos"/>
              </a:rPr>
              <a:t>Turn setup history into a decision tool</a:t>
            </a:r>
          </a:p>
        </p:txBody>
      </p:sp>
      <p:sp>
        <p:nvSpPr>
          <p:cNvPr id="5" name="rect"/>
          <p:cNvSpPr/>
          <p:nvPr/>
        </p:nvSpPr>
        <p:spPr>
          <a:xfrm>
            <a:off x="762000" y="1695450"/>
            <a:ext cx="2381250" cy="112395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933450" y="184785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>
                <a:solidFill>
                  <a:srgbClr val="A1A1AA"/>
                </a:solidFill>
                <a:latin typeface="Aptos"/>
              </a:rPr>
              <a:t>PACE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33450" y="2095500"/>
            <a:ext cx="2000250" cy="4000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000" b="1">
                <a:solidFill>
                  <a:srgbClr val="22D3EE"/>
                </a:solidFill>
                <a:latin typeface="Aptos"/>
              </a:rPr>
              <a:t>Was I faster?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933450" y="251460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>
                <a:solidFill>
                  <a:srgbClr val="A1A1AA"/>
                </a:solidFill>
                <a:latin typeface="Aptos"/>
              </a:rPr>
              <a:t>best and average lap</a:t>
            </a:r>
          </a:p>
        </p:txBody>
      </p:sp>
      <p:sp>
        <p:nvSpPr>
          <p:cNvPr id="9" name="rect"/>
          <p:cNvSpPr/>
          <p:nvPr/>
        </p:nvSpPr>
        <p:spPr>
          <a:xfrm>
            <a:off x="3543300" y="1695450"/>
            <a:ext cx="2381250" cy="112395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3714750" y="184785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>
                <a:solidFill>
                  <a:srgbClr val="A1A1AA"/>
                </a:solidFill>
                <a:latin typeface="Aptos"/>
              </a:rPr>
              <a:t>REPEATABILITY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3714750" y="2095500"/>
            <a:ext cx="2000250" cy="4000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000" b="1">
                <a:solidFill>
                  <a:srgbClr val="34D399"/>
                </a:solidFill>
                <a:latin typeface="Aptos"/>
              </a:rPr>
              <a:t>Was it real?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3714750" y="251460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>
                <a:solidFill>
                  <a:srgbClr val="A1A1AA"/>
                </a:solidFill>
                <a:latin typeface="Aptos"/>
              </a:rPr>
              <a:t>consistency and lap count</a:t>
            </a:r>
          </a:p>
        </p:txBody>
      </p:sp>
      <p:sp>
        <p:nvSpPr>
          <p:cNvPr id="13" name="rect"/>
          <p:cNvSpPr/>
          <p:nvPr/>
        </p:nvSpPr>
        <p:spPr>
          <a:xfrm>
            <a:off x="6324600" y="1695450"/>
            <a:ext cx="2381250" cy="112395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6496050" y="184785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>
                <a:solidFill>
                  <a:srgbClr val="A1A1AA"/>
                </a:solidFill>
                <a:latin typeface="Aptos"/>
              </a:rPr>
              <a:t>SETUP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496050" y="2095500"/>
            <a:ext cx="2000250" cy="4000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000" b="1">
                <a:solidFill>
                  <a:srgbClr val="22D3EE"/>
                </a:solidFill>
                <a:latin typeface="Aptos"/>
              </a:rPr>
              <a:t>What changed?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496050" y="251460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>
                <a:solidFill>
                  <a:srgbClr val="A1A1AA"/>
                </a:solidFill>
                <a:latin typeface="Aptos"/>
              </a:rPr>
              <a:t>tires, suspension, notes</a:t>
            </a:r>
          </a:p>
        </p:txBody>
      </p:sp>
      <p:sp>
        <p:nvSpPr>
          <p:cNvPr id="17" name="rect"/>
          <p:cNvSpPr/>
          <p:nvPr/>
        </p:nvSpPr>
        <p:spPr>
          <a:xfrm>
            <a:off x="9105900" y="1695450"/>
            <a:ext cx="2381250" cy="112395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8" name="text"/>
          <p:cNvSpPr txBox="1"/>
          <p:nvPr/>
        </p:nvSpPr>
        <p:spPr>
          <a:xfrm>
            <a:off x="9277350" y="184785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 b="1">
                <a:solidFill>
                  <a:srgbClr val="A1A1AA"/>
                </a:solidFill>
                <a:latin typeface="Aptos"/>
              </a:rPr>
              <a:t>CONTEXT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9277350" y="2095500"/>
            <a:ext cx="2000250" cy="4000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000" b="1">
                <a:solidFill>
                  <a:srgbClr val="F59E0B"/>
                </a:solidFill>
                <a:latin typeface="Aptos"/>
              </a:rPr>
              <a:t>Can I trust it?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9277350" y="251460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>
                <a:solidFill>
                  <a:srgbClr val="A1A1AA"/>
                </a:solidFill>
                <a:latin typeface="Aptos"/>
              </a:rPr>
              <a:t>conditions and warnings</a:t>
            </a:r>
          </a:p>
        </p:txBody>
      </p:sp>
      <p:sp>
        <p:nvSpPr>
          <p:cNvPr id="21" name="rect"/>
          <p:cNvSpPr/>
          <p:nvPr/>
        </p:nvSpPr>
        <p:spPr>
          <a:xfrm>
            <a:off x="1657350" y="3714750"/>
            <a:ext cx="8286750" cy="9906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22" name="text"/>
          <p:cNvSpPr txBox="1"/>
          <p:nvPr/>
        </p:nvSpPr>
        <p:spPr>
          <a:xfrm>
            <a:off x="2076450" y="4000500"/>
            <a:ext cx="7524750" cy="419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900" b="1">
                <a:solidFill>
                  <a:srgbClr val="F4F4F5"/>
                </a:solidFill>
                <a:latin typeface="Aptos"/>
              </a:rPr>
              <a:t>The user should leave with a next-session decision, not just another chart.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609600" y="6362700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000">
                <a:solidFill>
                  <a:srgbClr val="71717A"/>
                </a:solidFill>
                <a:latin typeface="Aptos"/>
              </a:rPr>
              <a:t>Track Tuner Session Compare ·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609600" y="40005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 b="1">
                <a:solidFill>
                  <a:srgbClr val="22D3EE"/>
                </a:solidFill>
                <a:latin typeface="Aptos"/>
              </a:rPr>
              <a:t>V1 SCOPE + USER STORIES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7620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600" b="1">
                <a:solidFill>
                  <a:srgbClr val="F4F4F5"/>
                </a:solidFill>
                <a:latin typeface="Aptos"/>
              </a:rPr>
              <a:t>Manual-first v1 with testable stories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723900" y="1581150"/>
            <a:ext cx="4762500" cy="17145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>
                <a:solidFill>
                  <a:srgbClr val="F4F4F5"/>
                </a:solidFill>
                <a:latin typeface="Aptos"/>
              </a:rPr>
              <a:t>• Compare two sessions</a:t>
            </a:r>
          </a:p>
          <a:p>
            <a:pPr algn="l"/>
            <a:r>
              <a:rPr lang="en-US" sz="2000">
                <a:solidFill>
                  <a:srgbClr val="F4F4F5"/>
                </a:solidFill>
                <a:latin typeface="Aptos"/>
              </a:rPr>
              <a:t>• Prioritize same vehicle and same track/layout</a:t>
            </a:r>
          </a:p>
          <a:p>
            <a:pPr algn="l"/>
            <a:r>
              <a:rPr lang="en-US" sz="2000">
                <a:solidFill>
                  <a:srgbClr val="F4F4F5"/>
                </a:solidFill>
                <a:latin typeface="Aptos"/>
              </a:rPr>
              <a:t>• Show lap metrics, setup deltas, and context warnings</a:t>
            </a:r>
          </a:p>
          <a:p>
            <a:pPr algn="l"/>
            <a:r>
              <a:rPr lang="en-US" sz="2000">
                <a:solidFill>
                  <a:srgbClr val="F4F4F5"/>
                </a:solidFill>
                <a:latin typeface="Aptos"/>
              </a:rPr>
              <a:t>• Save a takeaway or next-session focus</a:t>
            </a:r>
          </a:p>
        </p:txBody>
      </p:sp>
      <p:sp>
        <p:nvSpPr>
          <p:cNvPr id="6" name="rect"/>
          <p:cNvSpPr/>
          <p:nvPr/>
        </p:nvSpPr>
        <p:spPr>
          <a:xfrm>
            <a:off x="6172200" y="1562100"/>
            <a:ext cx="4476750" cy="257175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6515100" y="1885950"/>
            <a:ext cx="371475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800" b="1">
                <a:solidFill>
                  <a:srgbClr val="22D3EE"/>
                </a:solidFill>
                <a:latin typeface="Aptos"/>
              </a:rPr>
              <a:t>Representative story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6515100" y="2343150"/>
            <a:ext cx="3657600" cy="1181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100">
                <a:solidFill>
                  <a:srgbClr val="F4F4F5"/>
                </a:solidFill>
                <a:latin typeface="Aptos"/>
              </a:rPr>
              <a:t>As a driver reviewing my session history, I want to see best lap, average lap, lap count, and consistency side by side, so that I can tell whether I was truly better or only had one good lap.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819150" y="4171950"/>
            <a:ext cx="93345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200">
                <a:solidFill>
                  <a:srgbClr val="A1A1AA"/>
                </a:solidFill>
                <a:latin typeface="Aptos"/>
              </a:rPr>
              <a:t>Acceptance criteria use Given/When/Then and include missing-data empty states.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609600" y="6362700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000">
                <a:solidFill>
                  <a:srgbClr val="71717A"/>
                </a:solidFill>
                <a:latin typeface="Aptos"/>
              </a:rPr>
              <a:t>Track Tuner Session Compare ·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609600" y="40005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 b="1">
                <a:solidFill>
                  <a:srgbClr val="22D3EE"/>
                </a:solidFill>
                <a:latin typeface="Aptos"/>
              </a:rPr>
              <a:t>WORKFLOW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7620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600" b="1">
                <a:solidFill>
                  <a:srgbClr val="F4F4F5"/>
                </a:solidFill>
                <a:latin typeface="Aptos"/>
              </a:rPr>
              <a:t>Primary comparison workflow</a:t>
            </a:r>
          </a:p>
        </p:txBody>
      </p:sp>
      <p:sp>
        <p:nvSpPr>
          <p:cNvPr id="5" name="rect"/>
          <p:cNvSpPr/>
          <p:nvPr/>
        </p:nvSpPr>
        <p:spPr>
          <a:xfrm>
            <a:off x="762000" y="2286000"/>
            <a:ext cx="1314450" cy="800100"/>
          </a:xfrm>
          <a:prstGeom prst="round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876300" y="2457450"/>
            <a:ext cx="1085850" cy="4762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700" b="1">
                <a:solidFill>
                  <a:srgbClr val="F4F4F5"/>
                </a:solidFill>
                <a:latin typeface="Aptos"/>
              </a:rPr>
              <a:t>Open</a:t>
            </a:r>
          </a:p>
          <a:p>
            <a:pPr algn="l"/>
            <a:r>
              <a:rPr lang="en-US" sz="1700" b="1">
                <a:solidFill>
                  <a:srgbClr val="F4F4F5"/>
                </a:solidFill>
                <a:latin typeface="Aptos"/>
              </a:rPr>
              <a:t>session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2152650" y="2552700"/>
            <a:ext cx="32385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200" b="1">
                <a:solidFill>
                  <a:srgbClr val="22D3EE"/>
                </a:solidFill>
                <a:latin typeface="Aptos"/>
              </a:rPr>
              <a:t>-&gt;</a:t>
            </a:r>
          </a:p>
        </p:txBody>
      </p:sp>
      <p:sp>
        <p:nvSpPr>
          <p:cNvPr id="8" name="rect"/>
          <p:cNvSpPr/>
          <p:nvPr/>
        </p:nvSpPr>
        <p:spPr>
          <a:xfrm>
            <a:off x="2533650" y="2286000"/>
            <a:ext cx="1314450" cy="8001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2647950" y="2457450"/>
            <a:ext cx="1085850" cy="4762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Tap</a:t>
            </a:r>
          </a:p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Compare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3924300" y="2552700"/>
            <a:ext cx="32385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200" b="1">
                <a:solidFill>
                  <a:srgbClr val="22D3EE"/>
                </a:solidFill>
                <a:latin typeface="Aptos"/>
              </a:rPr>
              <a:t>-&gt;</a:t>
            </a:r>
          </a:p>
        </p:txBody>
      </p:sp>
      <p:sp>
        <p:nvSpPr>
          <p:cNvPr id="11" name="rect"/>
          <p:cNvSpPr/>
          <p:nvPr/>
        </p:nvSpPr>
        <p:spPr>
          <a:xfrm>
            <a:off x="4305300" y="2286000"/>
            <a:ext cx="1314450" cy="8001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4419600" y="2457450"/>
            <a:ext cx="1085850" cy="4762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Choose</a:t>
            </a:r>
          </a:p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baseline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695950" y="2552700"/>
            <a:ext cx="32385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200" b="1">
                <a:solidFill>
                  <a:srgbClr val="22D3EE"/>
                </a:solidFill>
                <a:latin typeface="Aptos"/>
              </a:rPr>
              <a:t>-&gt;</a:t>
            </a:r>
          </a:p>
        </p:txBody>
      </p:sp>
      <p:sp>
        <p:nvSpPr>
          <p:cNvPr id="14" name="rect"/>
          <p:cNvSpPr/>
          <p:nvPr/>
        </p:nvSpPr>
        <p:spPr>
          <a:xfrm>
            <a:off x="6076950" y="2286000"/>
            <a:ext cx="1314450" cy="8001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6191250" y="2457450"/>
            <a:ext cx="1085850" cy="4762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Review</a:t>
            </a:r>
          </a:p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summary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7467600" y="2552700"/>
            <a:ext cx="32385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200" b="1">
                <a:solidFill>
                  <a:srgbClr val="22D3EE"/>
                </a:solidFill>
                <a:latin typeface="Aptos"/>
              </a:rPr>
              <a:t>-&gt;</a:t>
            </a:r>
          </a:p>
        </p:txBody>
      </p:sp>
      <p:sp>
        <p:nvSpPr>
          <p:cNvPr id="17" name="rect"/>
          <p:cNvSpPr/>
          <p:nvPr/>
        </p:nvSpPr>
        <p:spPr>
          <a:xfrm>
            <a:off x="7848600" y="2286000"/>
            <a:ext cx="1314450" cy="8001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8" name="text"/>
          <p:cNvSpPr txBox="1"/>
          <p:nvPr/>
        </p:nvSpPr>
        <p:spPr>
          <a:xfrm>
            <a:off x="7962900" y="2457450"/>
            <a:ext cx="1085850" cy="4762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Inspect</a:t>
            </a:r>
          </a:p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charts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9239250" y="2552700"/>
            <a:ext cx="32385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200" b="1">
                <a:solidFill>
                  <a:srgbClr val="22D3EE"/>
                </a:solidFill>
                <a:latin typeface="Aptos"/>
              </a:rPr>
              <a:t>-&gt;</a:t>
            </a:r>
          </a:p>
        </p:txBody>
      </p:sp>
      <p:sp>
        <p:nvSpPr>
          <p:cNvPr id="20" name="rect"/>
          <p:cNvSpPr/>
          <p:nvPr/>
        </p:nvSpPr>
        <p:spPr>
          <a:xfrm>
            <a:off x="9620250" y="2286000"/>
            <a:ext cx="1314450" cy="8001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9734550" y="2457450"/>
            <a:ext cx="1085850" cy="4762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Save</a:t>
            </a:r>
          </a:p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takeaway</a:t>
            </a:r>
          </a:p>
        </p:txBody>
      </p:sp>
      <p:sp>
        <p:nvSpPr>
          <p:cNvPr id="22" name="rect"/>
          <p:cNvSpPr/>
          <p:nvPr/>
        </p:nvSpPr>
        <p:spPr>
          <a:xfrm>
            <a:off x="1714500" y="4000500"/>
            <a:ext cx="8096250" cy="81915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2114550" y="4267200"/>
            <a:ext cx="733425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400" b="1">
                <a:solidFill>
                  <a:srgbClr val="F4F4F5"/>
                </a:solidFill>
                <a:latin typeface="Aptos"/>
              </a:rPr>
              <a:t>The flow starts from the session detail page and ends with a saved takeaway or next-session focus.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609600" y="6362700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000">
                <a:solidFill>
                  <a:srgbClr val="71717A"/>
                </a:solidFill>
                <a:latin typeface="Aptos"/>
              </a:rPr>
              <a:t>Track Tuner Session Compare ·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609600" y="40005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 b="1">
                <a:solidFill>
                  <a:srgbClr val="22D3EE"/>
                </a:solidFill>
                <a:latin typeface="Aptos"/>
              </a:rPr>
              <a:t>CHART STRATEGY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7620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600" b="1">
                <a:solidFill>
                  <a:srgbClr val="F4F4F5"/>
                </a:solidFill>
                <a:latin typeface="Aptos"/>
              </a:rPr>
              <a:t>Charts answer user questions</a:t>
            </a:r>
          </a:p>
        </p:txBody>
      </p:sp>
      <p:sp>
        <p:nvSpPr>
          <p:cNvPr id="5" name="rect"/>
          <p:cNvSpPr/>
          <p:nvPr/>
        </p:nvSpPr>
        <p:spPr>
          <a:xfrm>
            <a:off x="685800" y="1695450"/>
            <a:ext cx="4953000" cy="238125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876300" y="184785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500" b="1">
                <a:solidFill>
                  <a:srgbClr val="F4F4F5"/>
                </a:solidFill>
                <a:latin typeface="Aptos"/>
              </a:rPr>
              <a:t>Lap Time Trend</a:t>
            </a:r>
          </a:p>
        </p:txBody>
      </p:sp>
      <p:sp>
        <p:nvSpPr>
          <p:cNvPr id="7" name="rect"/>
          <p:cNvSpPr/>
          <p:nvPr/>
        </p:nvSpPr>
        <p:spPr>
          <a:xfrm>
            <a:off x="1104900" y="2247900"/>
            <a:ext cx="4114800" cy="11430"/>
          </a:xfrm>
          <a:prstGeom prst="rect">
            <a:avLst/>
          </a:prstGeom>
          <a:solidFill>
            <a:srgbClr val="27272A"/>
          </a:solidFill>
          <a:ln>
            <a:noFill/>
          </a:ln>
        </p:spPr>
      </p:sp>
      <p:sp>
        <p:nvSpPr>
          <p:cNvPr id="8" name="rect"/>
          <p:cNvSpPr/>
          <p:nvPr/>
        </p:nvSpPr>
        <p:spPr>
          <a:xfrm>
            <a:off x="1104900" y="2609850"/>
            <a:ext cx="4114800" cy="11430"/>
          </a:xfrm>
          <a:prstGeom prst="rect">
            <a:avLst/>
          </a:prstGeom>
          <a:solidFill>
            <a:srgbClr val="27272A"/>
          </a:solidFill>
          <a:ln>
            <a:noFill/>
          </a:ln>
        </p:spPr>
      </p:sp>
      <p:sp>
        <p:nvSpPr>
          <p:cNvPr id="9" name="rect"/>
          <p:cNvSpPr/>
          <p:nvPr/>
        </p:nvSpPr>
        <p:spPr>
          <a:xfrm>
            <a:off x="1104900" y="2971800"/>
            <a:ext cx="4114800" cy="11430"/>
          </a:xfrm>
          <a:prstGeom prst="rect">
            <a:avLst/>
          </a:prstGeom>
          <a:solidFill>
            <a:srgbClr val="27272A"/>
          </a:solidFill>
          <a:ln>
            <a:noFill/>
          </a:ln>
        </p:spPr>
      </p:sp>
      <p:sp>
        <p:nvSpPr>
          <p:cNvPr id="10" name="rect"/>
          <p:cNvSpPr/>
          <p:nvPr/>
        </p:nvSpPr>
        <p:spPr>
          <a:xfrm>
            <a:off x="1104900" y="3333750"/>
            <a:ext cx="4114800" cy="11430"/>
          </a:xfrm>
          <a:prstGeom prst="rect">
            <a:avLst/>
          </a:prstGeom>
          <a:solidFill>
            <a:srgbClr val="27272A"/>
          </a:solidFill>
          <a:ln>
            <a:noFill/>
          </a:ln>
        </p:spPr>
      </p:sp>
      <p:sp>
        <p:nvSpPr>
          <p:cNvPr id="11" name="line"/>
          <p:cNvSpPr/>
          <p:nvPr/>
        </p:nvSpPr>
        <p:spPr>
          <a:xfrm rot="-980890">
            <a:off x="1209675" y="3009900"/>
            <a:ext cx="744475" cy="28575"/>
          </a:xfrm>
          <a:prstGeom prst="rect">
            <a:avLst/>
          </a:prstGeom>
          <a:solidFill>
            <a:srgbClr val="71717A"/>
          </a:solidFill>
          <a:ln>
            <a:noFill/>
          </a:ln>
        </p:spPr>
      </p:sp>
      <p:sp>
        <p:nvSpPr>
          <p:cNvPr id="12" name="line"/>
          <p:cNvSpPr/>
          <p:nvPr/>
        </p:nvSpPr>
        <p:spPr>
          <a:xfrm rot="-455679">
            <a:off x="1924050" y="2800350"/>
            <a:ext cx="720697" cy="28575"/>
          </a:xfrm>
          <a:prstGeom prst="rect">
            <a:avLst/>
          </a:prstGeom>
          <a:solidFill>
            <a:srgbClr val="71717A"/>
          </a:solidFill>
          <a:ln>
            <a:noFill/>
          </a:ln>
        </p:spPr>
      </p:sp>
      <p:sp>
        <p:nvSpPr>
          <p:cNvPr id="13" name="line"/>
          <p:cNvSpPr/>
          <p:nvPr/>
        </p:nvSpPr>
        <p:spPr>
          <a:xfrm rot="545417">
            <a:off x="2638425" y="2705100"/>
            <a:ext cx="723461" cy="28575"/>
          </a:xfrm>
          <a:prstGeom prst="rect">
            <a:avLst/>
          </a:prstGeom>
          <a:solidFill>
            <a:srgbClr val="71717A"/>
          </a:solidFill>
          <a:ln>
            <a:noFill/>
          </a:ln>
        </p:spPr>
      </p:sp>
      <p:sp>
        <p:nvSpPr>
          <p:cNvPr id="14" name="line"/>
          <p:cNvSpPr/>
          <p:nvPr/>
        </p:nvSpPr>
        <p:spPr>
          <a:xfrm rot="-274435">
            <a:off x="3352800" y="2819400"/>
            <a:ext cx="716657" cy="28575"/>
          </a:xfrm>
          <a:prstGeom prst="rect">
            <a:avLst/>
          </a:prstGeom>
          <a:solidFill>
            <a:srgbClr val="71717A"/>
          </a:solidFill>
          <a:ln>
            <a:noFill/>
          </a:ln>
        </p:spPr>
      </p:sp>
      <p:sp>
        <p:nvSpPr>
          <p:cNvPr id="15" name="line"/>
          <p:cNvSpPr/>
          <p:nvPr/>
        </p:nvSpPr>
        <p:spPr>
          <a:xfrm rot="500633">
            <a:off x="4067175" y="2762250"/>
            <a:ext cx="722018" cy="28575"/>
          </a:xfrm>
          <a:prstGeom prst="rect">
            <a:avLst/>
          </a:prstGeom>
          <a:solidFill>
            <a:srgbClr val="71717A"/>
          </a:solidFill>
          <a:ln>
            <a:noFill/>
          </a:ln>
        </p:spPr>
      </p:sp>
      <p:sp>
        <p:nvSpPr>
          <p:cNvPr id="16" name="line"/>
          <p:cNvSpPr/>
          <p:nvPr/>
        </p:nvSpPr>
        <p:spPr>
          <a:xfrm rot="-895885">
            <a:off x="1209675" y="3124200"/>
            <a:ext cx="739339" cy="28575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7" name="line"/>
          <p:cNvSpPr/>
          <p:nvPr/>
        </p:nvSpPr>
        <p:spPr>
          <a:xfrm rot="-1308085">
            <a:off x="1924050" y="2933700"/>
            <a:ext cx="769405" cy="28575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8" name="line"/>
          <p:cNvSpPr/>
          <p:nvPr/>
        </p:nvSpPr>
        <p:spPr>
          <a:xfrm rot="-545417">
            <a:off x="2638425" y="2647950"/>
            <a:ext cx="723461" cy="28575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9" name="line"/>
          <p:cNvSpPr/>
          <p:nvPr/>
        </p:nvSpPr>
        <p:spPr>
          <a:xfrm rot="183173">
            <a:off x="3352800" y="2533650"/>
            <a:ext cx="715390" cy="28575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0" name="line"/>
          <p:cNvSpPr/>
          <p:nvPr/>
        </p:nvSpPr>
        <p:spPr>
          <a:xfrm rot="455679">
            <a:off x="4067175" y="2571750"/>
            <a:ext cx="720697" cy="28575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1" name="text"/>
          <p:cNvSpPr txBox="1"/>
          <p:nvPr/>
        </p:nvSpPr>
        <p:spPr>
          <a:xfrm>
            <a:off x="1257300" y="375285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>
                <a:solidFill>
                  <a:srgbClr val="A1A1AA"/>
                </a:solidFill>
                <a:latin typeface="Aptos"/>
              </a:rPr>
              <a:t>Baseline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2590800" y="375285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100">
                <a:solidFill>
                  <a:srgbClr val="22D3EE"/>
                </a:solidFill>
                <a:latin typeface="Aptos"/>
              </a:rPr>
              <a:t>Comparison</a:t>
            </a:r>
          </a:p>
        </p:txBody>
      </p:sp>
      <p:sp>
        <p:nvSpPr>
          <p:cNvPr id="23" name="rect"/>
          <p:cNvSpPr/>
          <p:nvPr/>
        </p:nvSpPr>
        <p:spPr>
          <a:xfrm>
            <a:off x="6191250" y="1695450"/>
            <a:ext cx="4095750" cy="238125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24" name="text"/>
          <p:cNvSpPr txBox="1"/>
          <p:nvPr/>
        </p:nvSpPr>
        <p:spPr>
          <a:xfrm>
            <a:off x="6362700" y="1828800"/>
            <a:ext cx="3752850" cy="209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500" b="1">
                <a:solidFill>
                  <a:srgbClr val="F4F4F5"/>
                </a:solidFill>
                <a:latin typeface="Aptos"/>
              </a:rPr>
              <a:t>Lap Delta Bars</a:t>
            </a:r>
          </a:p>
        </p:txBody>
      </p:sp>
      <p:sp>
        <p:nvSpPr>
          <p:cNvPr id="25" name="rect"/>
          <p:cNvSpPr/>
          <p:nvPr/>
        </p:nvSpPr>
        <p:spPr>
          <a:xfrm>
            <a:off x="6534150" y="2695575"/>
            <a:ext cx="3409950" cy="19050"/>
          </a:xfrm>
          <a:prstGeom prst="rect">
            <a:avLst/>
          </a:prstGeom>
          <a:solidFill>
            <a:srgbClr val="3F3F46"/>
          </a:solidFill>
          <a:ln>
            <a:noFill/>
          </a:ln>
        </p:spPr>
      </p:sp>
      <p:sp>
        <p:nvSpPr>
          <p:cNvPr id="26" name="rect"/>
          <p:cNvSpPr/>
          <p:nvPr/>
        </p:nvSpPr>
        <p:spPr>
          <a:xfrm>
            <a:off x="6686550" y="2714625"/>
            <a:ext cx="323850" cy="12573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7" name="text"/>
          <p:cNvSpPr txBox="1"/>
          <p:nvPr/>
        </p:nvSpPr>
        <p:spPr>
          <a:xfrm>
            <a:off x="6610350" y="3143250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000">
                <a:solidFill>
                  <a:srgbClr val="A1A1AA"/>
                </a:solidFill>
                <a:latin typeface="Aptos"/>
              </a:rPr>
              <a:t>L1</a:t>
            </a:r>
          </a:p>
        </p:txBody>
      </p:sp>
      <p:sp>
        <p:nvSpPr>
          <p:cNvPr id="28" name="rect"/>
          <p:cNvSpPr/>
          <p:nvPr/>
        </p:nvSpPr>
        <p:spPr>
          <a:xfrm>
            <a:off x="7258050" y="2632710"/>
            <a:ext cx="323850" cy="952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9" name="text"/>
          <p:cNvSpPr txBox="1"/>
          <p:nvPr/>
        </p:nvSpPr>
        <p:spPr>
          <a:xfrm>
            <a:off x="7181850" y="3143250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000">
                <a:solidFill>
                  <a:srgbClr val="A1A1AA"/>
                </a:solidFill>
                <a:latin typeface="Aptos"/>
              </a:rPr>
              <a:t>L2</a:t>
            </a:r>
          </a:p>
        </p:txBody>
      </p:sp>
      <p:sp>
        <p:nvSpPr>
          <p:cNvPr id="30" name="rect"/>
          <p:cNvSpPr/>
          <p:nvPr/>
        </p:nvSpPr>
        <p:spPr>
          <a:xfrm>
            <a:off x="7829550" y="2318385"/>
            <a:ext cx="323850" cy="37719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31" name="text"/>
          <p:cNvSpPr txBox="1"/>
          <p:nvPr/>
        </p:nvSpPr>
        <p:spPr>
          <a:xfrm>
            <a:off x="7753350" y="3143250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000">
                <a:solidFill>
                  <a:srgbClr val="A1A1AA"/>
                </a:solidFill>
                <a:latin typeface="Aptos"/>
              </a:rPr>
              <a:t>L3</a:t>
            </a:r>
          </a:p>
        </p:txBody>
      </p:sp>
      <p:sp>
        <p:nvSpPr>
          <p:cNvPr id="32" name="rect"/>
          <p:cNvSpPr/>
          <p:nvPr/>
        </p:nvSpPr>
        <p:spPr>
          <a:xfrm>
            <a:off x="8401050" y="2192655"/>
            <a:ext cx="323850" cy="50292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33" name="text"/>
          <p:cNvSpPr txBox="1"/>
          <p:nvPr/>
        </p:nvSpPr>
        <p:spPr>
          <a:xfrm>
            <a:off x="8324850" y="3143250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000">
                <a:solidFill>
                  <a:srgbClr val="A1A1AA"/>
                </a:solidFill>
                <a:latin typeface="Aptos"/>
              </a:rPr>
              <a:t>L4</a:t>
            </a:r>
          </a:p>
        </p:txBody>
      </p:sp>
      <p:sp>
        <p:nvSpPr>
          <p:cNvPr id="34" name="rect"/>
          <p:cNvSpPr/>
          <p:nvPr/>
        </p:nvSpPr>
        <p:spPr>
          <a:xfrm>
            <a:off x="8972550" y="2506980"/>
            <a:ext cx="323850" cy="188595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35" name="text"/>
          <p:cNvSpPr txBox="1"/>
          <p:nvPr/>
        </p:nvSpPr>
        <p:spPr>
          <a:xfrm>
            <a:off x="8896350" y="3143250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000">
                <a:solidFill>
                  <a:srgbClr val="A1A1AA"/>
                </a:solidFill>
                <a:latin typeface="Aptos"/>
              </a:rPr>
              <a:t>L5</a:t>
            </a:r>
          </a:p>
        </p:txBody>
      </p:sp>
      <p:sp>
        <p:nvSpPr>
          <p:cNvPr id="36" name="rect"/>
          <p:cNvSpPr/>
          <p:nvPr/>
        </p:nvSpPr>
        <p:spPr>
          <a:xfrm>
            <a:off x="9544050" y="2714625"/>
            <a:ext cx="323850" cy="95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7" name="text"/>
          <p:cNvSpPr txBox="1"/>
          <p:nvPr/>
        </p:nvSpPr>
        <p:spPr>
          <a:xfrm>
            <a:off x="9467850" y="3143250"/>
            <a:ext cx="47625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000">
                <a:solidFill>
                  <a:srgbClr val="A1A1AA"/>
                </a:solidFill>
                <a:latin typeface="Aptos"/>
              </a:rPr>
              <a:t>L6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876300" y="4591050"/>
            <a:ext cx="9048750" cy="1047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900">
                <a:solidFill>
                  <a:srgbClr val="F4F4F5"/>
                </a:solidFill>
                <a:latin typeface="Aptos"/>
              </a:rPr>
              <a:t>• Lap Time Trend: did pace improve, fade, or stabilize?</a:t>
            </a:r>
          </a:p>
          <a:p>
            <a:pPr algn="l"/>
            <a:r>
              <a:rPr lang="en-US" sz="1900">
                <a:solidFill>
                  <a:srgbClr val="F4F4F5"/>
                </a:solidFill>
                <a:latin typeface="Aptos"/>
              </a:rPr>
              <a:t>• Best / Average / Consistency: faster once or repeatably better?</a:t>
            </a:r>
          </a:p>
          <a:p>
            <a:pPr algn="l"/>
            <a:r>
              <a:rPr lang="en-US" sz="1900">
                <a:solidFill>
                  <a:srgbClr val="F4F4F5"/>
                </a:solidFill>
                <a:latin typeface="Aptos"/>
              </a:rPr>
              <a:t>• Setup Delta Summary: what changed mechanically?</a:t>
            </a:r>
          </a:p>
          <a:p>
            <a:pPr algn="l"/>
            <a:r>
              <a:rPr lang="en-US" sz="1900">
                <a:solidFill>
                  <a:srgbClr val="F4F4F5"/>
                </a:solidFill>
                <a:latin typeface="Aptos"/>
              </a:rPr>
              <a:t>• Confidence Flags: can the user trust the comparison?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609600" y="6362700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000">
                <a:solidFill>
                  <a:srgbClr val="71717A"/>
                </a:solidFill>
                <a:latin typeface="Aptos"/>
              </a:rPr>
              <a:t>Track Tuner Session Compare ·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609600" y="40005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 b="1">
                <a:solidFill>
                  <a:srgbClr val="22D3EE"/>
                </a:solidFill>
                <a:latin typeface="Aptos"/>
              </a:rPr>
              <a:t>WIREFRAMES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7620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600" b="1">
                <a:solidFill>
                  <a:srgbClr val="F4F4F5"/>
                </a:solidFill>
                <a:latin typeface="Aptos"/>
              </a:rPr>
              <a:t>Wireframes focus on decisions, not dashboards</a:t>
            </a:r>
          </a:p>
        </p:txBody>
      </p:sp>
      <p:sp>
        <p:nvSpPr>
          <p:cNvPr id="5" name="rect"/>
          <p:cNvSpPr/>
          <p:nvPr/>
        </p:nvSpPr>
        <p:spPr>
          <a:xfrm>
            <a:off x="1143000" y="1676400"/>
            <a:ext cx="2190750" cy="3714750"/>
          </a:xfrm>
          <a:prstGeom prst="roundRect">
            <a:avLst/>
          </a:prstGeom>
          <a:solidFill>
            <a:srgbClr val="0B0B0E"/>
          </a:solidFill>
          <a:ln w="12700">
            <a:solidFill>
              <a:srgbClr val="3F3F46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1352550" y="190500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500" b="1">
                <a:solidFill>
                  <a:srgbClr val="F4F4F5"/>
                </a:solidFill>
                <a:latin typeface="Aptos"/>
              </a:rPr>
              <a:t>Session Detail</a:t>
            </a:r>
          </a:p>
        </p:txBody>
      </p:sp>
      <p:sp>
        <p:nvSpPr>
          <p:cNvPr id="7" name="rect"/>
          <p:cNvSpPr/>
          <p:nvPr/>
        </p:nvSpPr>
        <p:spPr>
          <a:xfrm>
            <a:off x="1352550" y="2286000"/>
            <a:ext cx="1771650" cy="55245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8" name="rect"/>
          <p:cNvSpPr/>
          <p:nvPr/>
        </p:nvSpPr>
        <p:spPr>
          <a:xfrm>
            <a:off x="1352550" y="2990850"/>
            <a:ext cx="819150" cy="723900"/>
          </a:xfrm>
          <a:prstGeom prst="round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</p:spPr>
      </p:sp>
      <p:sp>
        <p:nvSpPr>
          <p:cNvPr id="9" name="rect"/>
          <p:cNvSpPr/>
          <p:nvPr/>
        </p:nvSpPr>
        <p:spPr>
          <a:xfrm>
            <a:off x="2305050" y="2990850"/>
            <a:ext cx="819150" cy="7239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0" name="rect"/>
          <p:cNvSpPr/>
          <p:nvPr/>
        </p:nvSpPr>
        <p:spPr>
          <a:xfrm>
            <a:off x="1352550" y="3905250"/>
            <a:ext cx="1771650" cy="5334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1" name="rect"/>
          <p:cNvSpPr/>
          <p:nvPr/>
        </p:nvSpPr>
        <p:spPr>
          <a:xfrm>
            <a:off x="1352550" y="4572000"/>
            <a:ext cx="1771650" cy="438150"/>
          </a:xfrm>
          <a:prstGeom prst="roundRect">
            <a:avLst/>
          </a:prstGeom>
          <a:solidFill>
            <a:srgbClr val="27272A"/>
          </a:solidFill>
          <a:ln w="12700">
            <a:solidFill>
              <a:srgbClr val="3F3F46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1524000" y="3152775"/>
            <a:ext cx="476250" cy="2476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800" b="1">
                <a:solidFill>
                  <a:srgbClr val="22D3EE"/>
                </a:solidFill>
                <a:latin typeface="Aptos"/>
              </a:rPr>
              <a:t>-0.8s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2438400" y="3152775"/>
            <a:ext cx="552450" cy="2476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500" b="1">
                <a:solidFill>
                  <a:srgbClr val="F4F4F5"/>
                </a:solidFill>
                <a:latin typeface="Aptos"/>
              </a:rPr>
              <a:t>Useful</a:t>
            </a:r>
          </a:p>
        </p:txBody>
      </p:sp>
      <p:sp>
        <p:nvSpPr>
          <p:cNvPr id="14" name="rect"/>
          <p:cNvSpPr/>
          <p:nvPr/>
        </p:nvSpPr>
        <p:spPr>
          <a:xfrm>
            <a:off x="5010150" y="1676400"/>
            <a:ext cx="2190750" cy="3714750"/>
          </a:xfrm>
          <a:prstGeom prst="roundRect">
            <a:avLst/>
          </a:prstGeom>
          <a:solidFill>
            <a:srgbClr val="0B0B0E"/>
          </a:solidFill>
          <a:ln w="12700">
            <a:solidFill>
              <a:srgbClr val="3F3F46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5219700" y="190500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500" b="1">
                <a:solidFill>
                  <a:srgbClr val="F4F4F5"/>
                </a:solidFill>
                <a:latin typeface="Aptos"/>
              </a:rPr>
              <a:t>Compare Overview</a:t>
            </a:r>
          </a:p>
        </p:txBody>
      </p:sp>
      <p:sp>
        <p:nvSpPr>
          <p:cNvPr id="16" name="rect"/>
          <p:cNvSpPr/>
          <p:nvPr/>
        </p:nvSpPr>
        <p:spPr>
          <a:xfrm>
            <a:off x="5219700" y="2286000"/>
            <a:ext cx="1771650" cy="55245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7" name="rect"/>
          <p:cNvSpPr/>
          <p:nvPr/>
        </p:nvSpPr>
        <p:spPr>
          <a:xfrm>
            <a:off x="5219700" y="2990850"/>
            <a:ext cx="819150" cy="723900"/>
          </a:xfrm>
          <a:prstGeom prst="round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</p:spPr>
      </p:sp>
      <p:sp>
        <p:nvSpPr>
          <p:cNvPr id="18" name="rect"/>
          <p:cNvSpPr/>
          <p:nvPr/>
        </p:nvSpPr>
        <p:spPr>
          <a:xfrm>
            <a:off x="6172200" y="2990850"/>
            <a:ext cx="819150" cy="7239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9" name="rect"/>
          <p:cNvSpPr/>
          <p:nvPr/>
        </p:nvSpPr>
        <p:spPr>
          <a:xfrm>
            <a:off x="5219700" y="3905250"/>
            <a:ext cx="1771650" cy="5334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20" name="rect"/>
          <p:cNvSpPr/>
          <p:nvPr/>
        </p:nvSpPr>
        <p:spPr>
          <a:xfrm>
            <a:off x="5219700" y="4572000"/>
            <a:ext cx="1771650" cy="438150"/>
          </a:xfrm>
          <a:prstGeom prst="roundRect">
            <a:avLst/>
          </a:prstGeom>
          <a:solidFill>
            <a:srgbClr val="27272A"/>
          </a:solidFill>
          <a:ln w="12700">
            <a:solidFill>
              <a:srgbClr val="3F3F46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5391150" y="3152775"/>
            <a:ext cx="476250" cy="2476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800" b="1">
                <a:solidFill>
                  <a:srgbClr val="22D3EE"/>
                </a:solidFill>
                <a:latin typeface="Aptos"/>
              </a:rPr>
              <a:t>-0.8s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5550" y="3152775"/>
            <a:ext cx="552450" cy="2476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500" b="1">
                <a:solidFill>
                  <a:srgbClr val="F4F4F5"/>
                </a:solidFill>
                <a:latin typeface="Aptos"/>
              </a:rPr>
              <a:t>Useful</a:t>
            </a:r>
          </a:p>
        </p:txBody>
      </p:sp>
      <p:sp>
        <p:nvSpPr>
          <p:cNvPr id="23" name="rect"/>
          <p:cNvSpPr/>
          <p:nvPr/>
        </p:nvSpPr>
        <p:spPr>
          <a:xfrm>
            <a:off x="8877300" y="1676400"/>
            <a:ext cx="2190750" cy="3714750"/>
          </a:xfrm>
          <a:prstGeom prst="roundRect">
            <a:avLst/>
          </a:prstGeom>
          <a:solidFill>
            <a:srgbClr val="0B0B0E"/>
          </a:solidFill>
          <a:ln w="12700">
            <a:solidFill>
              <a:srgbClr val="3F3F46"/>
            </a:solidFill>
          </a:ln>
        </p:spPr>
      </p:sp>
      <p:sp>
        <p:nvSpPr>
          <p:cNvPr id="24" name="text"/>
          <p:cNvSpPr txBox="1"/>
          <p:nvPr/>
        </p:nvSpPr>
        <p:spPr>
          <a:xfrm>
            <a:off x="9086850" y="190500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500" b="1">
                <a:solidFill>
                  <a:srgbClr val="F4F4F5"/>
                </a:solidFill>
                <a:latin typeface="Aptos"/>
              </a:rPr>
              <a:t>Takeaway</a:t>
            </a:r>
          </a:p>
        </p:txBody>
      </p:sp>
      <p:sp>
        <p:nvSpPr>
          <p:cNvPr id="25" name="rect"/>
          <p:cNvSpPr/>
          <p:nvPr/>
        </p:nvSpPr>
        <p:spPr>
          <a:xfrm>
            <a:off x="9086850" y="2286000"/>
            <a:ext cx="1771650" cy="55245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26" name="rect"/>
          <p:cNvSpPr/>
          <p:nvPr/>
        </p:nvSpPr>
        <p:spPr>
          <a:xfrm>
            <a:off x="9086850" y="2990850"/>
            <a:ext cx="819150" cy="723900"/>
          </a:xfrm>
          <a:prstGeom prst="roundRect">
            <a:avLst/>
          </a:prstGeom>
          <a:solidFill>
            <a:srgbClr val="164E63"/>
          </a:solidFill>
          <a:ln w="12700">
            <a:solidFill>
              <a:srgbClr val="22D3EE"/>
            </a:solidFill>
          </a:ln>
        </p:spPr>
      </p:sp>
      <p:sp>
        <p:nvSpPr>
          <p:cNvPr id="27" name="rect"/>
          <p:cNvSpPr/>
          <p:nvPr/>
        </p:nvSpPr>
        <p:spPr>
          <a:xfrm>
            <a:off x="10039350" y="2990850"/>
            <a:ext cx="819150" cy="7239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28" name="rect"/>
          <p:cNvSpPr/>
          <p:nvPr/>
        </p:nvSpPr>
        <p:spPr>
          <a:xfrm>
            <a:off x="9086850" y="3905250"/>
            <a:ext cx="1771650" cy="5334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29" name="rect"/>
          <p:cNvSpPr/>
          <p:nvPr/>
        </p:nvSpPr>
        <p:spPr>
          <a:xfrm>
            <a:off x="9086850" y="4572000"/>
            <a:ext cx="1771650" cy="438150"/>
          </a:xfrm>
          <a:prstGeom prst="roundRect">
            <a:avLst/>
          </a:prstGeom>
          <a:solidFill>
            <a:srgbClr val="27272A"/>
          </a:solidFill>
          <a:ln w="12700">
            <a:solidFill>
              <a:srgbClr val="3F3F46"/>
            </a:solidFill>
          </a:ln>
        </p:spPr>
      </p:sp>
      <p:sp>
        <p:nvSpPr>
          <p:cNvPr id="30" name="text"/>
          <p:cNvSpPr txBox="1"/>
          <p:nvPr/>
        </p:nvSpPr>
        <p:spPr>
          <a:xfrm>
            <a:off x="9258300" y="3152775"/>
            <a:ext cx="476250" cy="2476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800" b="1">
                <a:solidFill>
                  <a:srgbClr val="22D3EE"/>
                </a:solidFill>
                <a:latin typeface="Aptos"/>
              </a:rPr>
              <a:t>-0.8s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10172700" y="3152775"/>
            <a:ext cx="552450" cy="2476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500" b="1">
                <a:solidFill>
                  <a:srgbClr val="F4F4F5"/>
                </a:solidFill>
                <a:latin typeface="Aptos"/>
              </a:rPr>
              <a:t>Useful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1143000" y="5638800"/>
            <a:ext cx="981075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000">
                <a:solidFill>
                  <a:srgbClr val="A1A1AA"/>
                </a:solidFill>
                <a:latin typeface="Aptos"/>
              </a:rPr>
              <a:t>Key screens: Compare CTA, picker, overview, pace charts, setup delta, confidence warnings, saved takeaway.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609600" y="6362700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000">
                <a:solidFill>
                  <a:srgbClr val="71717A"/>
                </a:solidFill>
                <a:latin typeface="Aptos"/>
              </a:rPr>
              <a:t>Track Tuner Session Compare ·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609600" y="40005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 b="1">
                <a:solidFill>
                  <a:srgbClr val="22D3EE"/>
                </a:solidFill>
                <a:latin typeface="Aptos"/>
              </a:rPr>
              <a:t>WHAT I WOULD MEASURE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09600" y="7620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3600" b="1">
                <a:solidFill>
                  <a:srgbClr val="F4F4F5"/>
                </a:solidFill>
                <a:latin typeface="Aptos"/>
              </a:rPr>
              <a:t>Tradeoffs, metrics, roadmap</a:t>
            </a:r>
          </a:p>
        </p:txBody>
      </p:sp>
      <p:sp>
        <p:nvSpPr>
          <p:cNvPr id="5" name="rect"/>
          <p:cNvSpPr/>
          <p:nvPr/>
        </p:nvSpPr>
        <p:spPr>
          <a:xfrm>
            <a:off x="704850" y="1581150"/>
            <a:ext cx="3143250" cy="28575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990600" y="192405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200" b="1">
                <a:solidFill>
                  <a:srgbClr val="22D3EE"/>
                </a:solidFill>
                <a:latin typeface="Aptos"/>
              </a:rPr>
              <a:t>Tradeoffs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90600" y="2381250"/>
            <a:ext cx="2381250" cy="1143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• Manual-first keeps v1 practical</a:t>
            </a:r>
          </a:p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• Warnings reduce false certainty</a:t>
            </a:r>
          </a:p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• Coach/shop waits for permissions</a:t>
            </a:r>
          </a:p>
        </p:txBody>
      </p:sp>
      <p:sp>
        <p:nvSpPr>
          <p:cNvPr id="8" name="rect"/>
          <p:cNvSpPr/>
          <p:nvPr/>
        </p:nvSpPr>
        <p:spPr>
          <a:xfrm>
            <a:off x="4514850" y="1581150"/>
            <a:ext cx="3143250" cy="28575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4800600" y="192405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200" b="1">
                <a:solidFill>
                  <a:srgbClr val="22D3EE"/>
                </a:solidFill>
                <a:latin typeface="Aptos"/>
              </a:rPr>
              <a:t>Metrics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800600" y="2381250"/>
            <a:ext cx="2476500" cy="12382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• Compare starts</a:t>
            </a:r>
          </a:p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• Takeaways saved</a:t>
            </a:r>
          </a:p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• Repeat usage</a:t>
            </a:r>
          </a:p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• Pro conversion from compare/export users</a:t>
            </a:r>
          </a:p>
        </p:txBody>
      </p:sp>
      <p:sp>
        <p:nvSpPr>
          <p:cNvPr id="11" name="rect"/>
          <p:cNvSpPr/>
          <p:nvPr/>
        </p:nvSpPr>
        <p:spPr>
          <a:xfrm>
            <a:off x="8324850" y="1581150"/>
            <a:ext cx="3143250" cy="28575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8610600" y="192405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200" b="1">
                <a:solidFill>
                  <a:srgbClr val="22D3EE"/>
                </a:solidFill>
                <a:latin typeface="Aptos"/>
              </a:rPr>
              <a:t>Roadmap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8610600" y="2381250"/>
            <a:ext cx="2381250" cy="1143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• V1.5 CSV import</a:t>
            </a:r>
          </a:p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• V2 coach/shop comparison</a:t>
            </a:r>
          </a:p>
          <a:p>
            <a:pPr algn="l"/>
            <a:r>
              <a:rPr lang="en-US" sz="1700">
                <a:solidFill>
                  <a:srgbClr val="F4F4F5"/>
                </a:solidFill>
                <a:latin typeface="Aptos"/>
              </a:rPr>
              <a:t>• V3 telemetry and sectors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619250" y="506730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2300" b="1">
                <a:solidFill>
                  <a:srgbClr val="F59E0B"/>
                </a:solidFill>
                <a:latin typeface="Aptos"/>
              </a:rPr>
              <a:t>No measured result yet. Impact to validate after release.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609600" y="6362700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000">
                <a:solidFill>
                  <a:srgbClr val="71717A"/>
                </a:solidFill>
                <a:latin typeface="Aptos"/>
              </a:rPr>
              <a:t>Track Tuner Session Compare ·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ck Tuner">
  <a:themeElements>
    <a:clrScheme name="Track Tuner">
      <a:dk1>
        <a:srgbClr val="09090B"/>
      </a:dk1>
      <a:lt1>
        <a:srgbClr val="F4F4F5"/>
      </a:lt1>
      <a:dk2>
        <a:srgbClr val="18181B"/>
      </a:dk2>
      <a:lt2>
        <a:srgbClr val="A1A1AA"/>
      </a:lt2>
      <a:accent1>
        <a:srgbClr val="22D3EE"/>
      </a:accent1>
      <a:accent2>
        <a:srgbClr val="F59E0B"/>
      </a:accent2>
      <a:accent3>
        <a:srgbClr val="34D399"/>
      </a:accent3>
      <a:accent4>
        <a:srgbClr val="F87171"/>
      </a:accent4>
      <a:accent5>
        <a:srgbClr val="3F3F46"/>
      </a:accent5>
      <a:accent6>
        <a:srgbClr val="71717A"/>
      </a:accent6>
      <a:hlink>
        <a:srgbClr val="22D3EE"/>
      </a:hlink>
      <a:folHlink>
        <a:srgbClr val="22D3EE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Track Tuner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Compare for Track Tuner</dc:title>
  <dc:creator>Codex</dc:creator>
  <cp:lastModifiedBy>Codex</cp:lastModifiedBy>
  <dcterms:created xsi:type="dcterms:W3CDTF">2026-06-18T05:59:29.226Z</dcterms:created>
  <dcterms:modified xsi:type="dcterms:W3CDTF">2026-06-18T05:59:29.226Z</dcterms:modified>
</cp:coreProperties>
</file>